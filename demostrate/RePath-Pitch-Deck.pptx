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038385ec304404" /><Relationship Type="http://schemas.openxmlformats.org/officeDocument/2006/relationships/extended-properties" Target="/docProps/app.xml" Id="R717bf7c1060d4d8b" /><Relationship Type="http://schemas.openxmlformats.org/officeDocument/2006/relationships/officeDocument" Target="/ppt/presentation.xml" Id="Rb6ee1b102cc147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41d2c87ca24d7e"/>
  </p:sldMasterIdLst>
  <p:notesMasterIdLst>
    <p:notesMasterId xmlns:r="http://schemas.openxmlformats.org/officeDocument/2006/relationships" r:id="R2429f4e5e0f14c1d"/>
  </p:notesMasterIdLst>
  <p:sldIdLst>
    <p:sldId xmlns:r="http://schemas.openxmlformats.org/officeDocument/2006/relationships" id="256" r:id="Rde3ba18c7b164346"/>
    <p:sldId xmlns:r="http://schemas.openxmlformats.org/officeDocument/2006/relationships" id="257" r:id="R6252a41fb2f846ca"/>
    <p:sldId xmlns:r="http://schemas.openxmlformats.org/officeDocument/2006/relationships" id="258" r:id="R0183a15b06d548a9"/>
    <p:sldId xmlns:r="http://schemas.openxmlformats.org/officeDocument/2006/relationships" id="259" r:id="R622213f92d7346eb"/>
    <p:sldId xmlns:r="http://schemas.openxmlformats.org/officeDocument/2006/relationships" id="260" r:id="Red9d667d35f4447e"/>
    <p:sldId xmlns:r="http://schemas.openxmlformats.org/officeDocument/2006/relationships" id="261" r:id="R83caec93cba74a35"/>
    <p:sldId xmlns:r="http://schemas.openxmlformats.org/officeDocument/2006/relationships" id="262" r:id="R8dbcac56255940a3"/>
    <p:sldId xmlns:r="http://schemas.openxmlformats.org/officeDocument/2006/relationships" id="263" r:id="R55714067be4e48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6946dfedfd4e55" /><Relationship Type="http://schemas.openxmlformats.org/officeDocument/2006/relationships/slideMaster" Target="/ppt/slideMasters/slideMaster1.xml" Id="R1441d2c87ca24d7e" /><Relationship Type="http://schemas.openxmlformats.org/officeDocument/2006/relationships/notesMaster" Target="/ppt/notesMasters/notesMaster1.xml" Id="R2429f4e5e0f14c1d" /><Relationship Type="http://schemas.openxmlformats.org/officeDocument/2006/relationships/presProps" Target="/ppt/presProps.xml" Id="Rfb2bd5973e32400a" /><Relationship Type="http://schemas.openxmlformats.org/officeDocument/2006/relationships/tableStyles" Target="/ppt/tableStyles.xml" Id="R849608fb202e49f7" /><Relationship Type="http://schemas.openxmlformats.org/officeDocument/2006/relationships/slide" Target="/ppt/slides/slide1.xml" Id="Rde3ba18c7b164346" /><Relationship Type="http://schemas.openxmlformats.org/officeDocument/2006/relationships/slide" Target="/ppt/slides/slide2.xml" Id="R6252a41fb2f846ca" /><Relationship Type="http://schemas.openxmlformats.org/officeDocument/2006/relationships/slide" Target="/ppt/slides/slide3.xml" Id="R0183a15b06d548a9" /><Relationship Type="http://schemas.openxmlformats.org/officeDocument/2006/relationships/slide" Target="/ppt/slides/slide4.xml" Id="R622213f92d7346eb" /><Relationship Type="http://schemas.openxmlformats.org/officeDocument/2006/relationships/slide" Target="/ppt/slides/slide5.xml" Id="Red9d667d35f4447e" /><Relationship Type="http://schemas.openxmlformats.org/officeDocument/2006/relationships/slide" Target="/ppt/slides/slide6.xml" Id="R83caec93cba74a35" /><Relationship Type="http://schemas.openxmlformats.org/officeDocument/2006/relationships/slide" Target="/ppt/slides/slide7.xml" Id="R8dbcac56255940a3" /><Relationship Type="http://schemas.openxmlformats.org/officeDocument/2006/relationships/slide" Target="/ppt/slides/slide8.xml" Id="R55714067be4e48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fc739ed08e4e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47d72365ea4964" /><Relationship Type="http://schemas.openxmlformats.org/officeDocument/2006/relationships/notesMaster" Target="/ppt/notesMasters/notesMaster1.xml" Id="Rd5fb2e3cf7cb43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f99cbb29ab4e25" /><Relationship Type="http://schemas.openxmlformats.org/officeDocument/2006/relationships/notesMaster" Target="/ppt/notesMasters/notesMaster1.xml" Id="R3af9ac0250d842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d1edfd36054854" /><Relationship Type="http://schemas.openxmlformats.org/officeDocument/2006/relationships/notesMaster" Target="/ppt/notesMasters/notesMaster1.xml" Id="Rdbb7aa3ea96d40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1e01f1cb784acf" /><Relationship Type="http://schemas.openxmlformats.org/officeDocument/2006/relationships/notesMaster" Target="/ppt/notesMasters/notesMaster1.xml" Id="Ra518c3d2869844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581351281c4a8d" /><Relationship Type="http://schemas.openxmlformats.org/officeDocument/2006/relationships/notesMaster" Target="/ppt/notesMasters/notesMaster1.xml" Id="Redb8cd64c31a4d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e6cd8a216d4afb" /><Relationship Type="http://schemas.openxmlformats.org/officeDocument/2006/relationships/notesMaster" Target="/ppt/notesMasters/notesMaster1.xml" Id="Rb8d0b7c03d944f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16c9d790fe4bac" /><Relationship Type="http://schemas.openxmlformats.org/officeDocument/2006/relationships/notesMaster" Target="/ppt/notesMasters/notesMaster1.xml" Id="Rdbd9116b183a43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a264bb746f4717" /><Relationship Type="http://schemas.openxmlformats.org/officeDocument/2006/relationships/notesMaster" Target="/ppt/notesMasters/notesMaster1.xml" Id="R485ae27401c347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页｜建议 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大家好，我们的项目是 RePath AI，参加 SDC Hackathon 2026 的 Domain 1。我们希望帮助有多年工作经验的马来西亚职场人士，在工作任务和技能需求变化时，找到下一条可行的职业路径。我们的出发点很简单：下一程，不必从零开始。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资料与边界</a:t>
            </a:r>
          </a:p>
          <a:p xmlns:a="http://schemas.openxmlformats.org/drawingml/2006/main">
            <a:r>
              <a:t>Competition structure and Domain 1: user-supplied brief in this conversation. The handbook was not independently available in this workspace.</a:t>
            </a:r>
          </a:p>
          <a:p xmlns:a="http://schemas.openxmlformats.org/drawingml/2006/main">
            <a:r>
              <a:t>Product version: ../release.json. Original logo: ../dist/assets/repath-mark.png.</a:t>
            </a:r>
          </a:p>
          <a:p xmlns:a="http://schemas.openxmlformats.org/drawingml/2006/main">
            <a:r>
              <a:t>Team details supplied by user: Gravity, Wu tong, Liang yiyan. Cover capitalisation: Team Gravity, Wu Tong, Liang Yiyan.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页｜建议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世界经济论坛的《Future of Jobs Report 2025》指出，AI 和信息处理等技术将影响企业对工作与技能的预期。这给职业转型带来一个具体问题：一个人过去做过很多项目，却不一定知道这些经验还能用于哪些工作。我们把待验证的用户困境分成三个问题：哪些能力可以带走，哪些相邻岗位值得考虑，以及应该先学什么。对需要尽快恢复收入的人来说，准备时间也是重要约束。这里没有把全球雇主预期当成马来西亚已经发生的裁员数据，也没有声称我们已经完成用户研究。我们会通过访谈和试用，验证这些问题的优先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资料与边界</a:t>
            </a:r>
          </a:p>
          <a:p xmlns:a="http://schemas.openxmlformats.org/drawingml/2006/main">
            <a:r>
              <a:t>WEF, The Future of Jobs Report 2025, published 7 January 2025: https://www.weforum.org/publications/the-future-of-jobs-report-2025/</a:t>
            </a:r>
          </a:p>
          <a:p xmlns:a="http://schemas.openxmlformats.org/drawingml/2006/main">
            <a:r>
              <a:t>The three user pain points are product hypotheses, not measured findings.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页｜建议 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我们优先服务有多年经验、正在考虑转型的中年职场人士，也兼顾在职进阶和重返职场。这里的 Alex Tan 是虚构演示人物。他有十年运营和市场经验，做过报告、客户沟通和流程改进。对于原型定义的管理分析师技能集合，他已经覆盖五项中的四项，下一项缺口是数据可视化。这个案例想说明，我们可以把旧经验整理为下一份工作的基础。这个比例来自演示规则，并不代表录用概率或真实能力认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资料与边界</a:t>
            </a:r>
          </a:p>
          <a:p xmlns:a="http://schemas.openxmlformats.org/drawingml/2006/main">
            <a:r>
              <a:t>Fictional persona and skill sets: ../dist/model.mjs, presets.transition and roles.analyst.</a:t>
            </a:r>
          </a:p>
          <a:p xmlns:a="http://schemas.openxmlformats.org/drawingml/2006/main">
            <a:r>
              <a:t>Real screenshot captured from the unchanged RePath 0.2 local build, English UI. Four of five is prototype-defined skill coverage.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页｜建议 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RePath 把职业探索拆成四步。第一步填写实际做过的项目和当前处境，第二步由用户确认项目中真实用过的能力，第三步比较相邻职业和技能缺口，第四步根据每周可用时间生成行动计划。现在原型覆盖八个职业方向，支持英文、中文和马来文。它还会区分用户的当前安排：急需收入时，先整理项目材料并开始申请，补技能与求职并行；能留出学习期时，先练技能并形成目标岗位作品。用户处境改变的是行动策略。个人匹配仍然依据确认的技能和经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资料与边界</a:t>
            </a:r>
          </a:p>
          <a:p xmlns:a="http://schemas.openxmlformats.org/drawingml/2006/main">
            <a:r>
              <a:t>Implemented flow: ../dist/work-profile.mjs, discovery.mjs, work-context.mjs and journey.mjs.</a:t>
            </a:r>
          </a:p>
          <a:p xmlns:a="http://schemas.openxmlformats.org/drawingml/2006/main">
            <a:r>
              <a:t>Eight roles: ../dist/model.mjs. Language support: ../dist/i18n.js and related translation modules.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页｜建议 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技术上，我们给四类数据分配不同职责。DOSM 提供马来西亚招聘观察，目前采用已导入的季度摘录；O*NET 提供职业任务参考，原型再做翻译和技能映射。WEF 提供长期雇主预期，arXiv 的 RSS 只提供研究信号，刷新遇到空结果或网络失败时保留明确状态。个人匹配先使用已确认的技能和经验，用户确认时间后才加入学习可行性。市场观察独立呈现，只有存在相关细分类别的方向才参与趋势排序。原型也有按核心技能缺口调整的情景敏感性规则，但它是假设，不是就业预测。当前没有接入生成式模型，后续计划让模型辅助提取项目能力，并保留用户确认与证据追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资料与边界</a:t>
            </a:r>
          </a:p>
          <a:p xmlns:a="http://schemas.openxmlformats.org/drawingml/2006/main">
            <a:r>
              <a:t>Implementation: ../dist/model.mjs, market-evidence.mjs, rss.mjs, career-ui.mjs and career-data.mjs.</a:t>
            </a:r>
          </a:p>
          <a:p xmlns:a="http://schemas.openxmlformats.org/drawingml/2006/main">
            <a:r>
              <a:t>DOSM: https://www.dosm.gov.my/portal-main/release-content/big-data-analytics-job-market-insights-q22026 . Quarterly figures shown in the prototype derive from its locally recorded official excerpts. Independent page access timed out during deck preparation, so this deck makes no quantitative market claim.</a:t>
            </a:r>
          </a:p>
          <a:p xmlns:a="http://schemas.openxmlformats.org/drawingml/2006/main">
            <a:r>
              <a:t>O*NET: https://www.onetcenter.org/database.html . US occupational reference; RePath skill crosswalks are product interpretations, not official Malaysian validation.</a:t>
            </a:r>
          </a:p>
          <a:p xmlns:a="http://schemas.openxmlformats.org/drawingml/2006/main">
            <a:r>
              <a:t>WEF: https://www.weforum.org/publications/the-future-of-jobs-report-2025/ . Global employer expectations, not live local observations.</a:t>
            </a:r>
          </a:p>
          <a:p xmlns:a="http://schemas.openxmlformats.org/drawingml/2006/main">
            <a:r>
              <a:t>arXiv: https://rss.arxiv.org/rss/cs.AI . Research papers do not establish adoption or job losses. Current stored snapshot is empty, not a successful populated feed.</a:t>
            </a:r>
          </a:p>
          <a:p xmlns:a="http://schemas.openxmlformats.org/drawingml/2006/main">
            <a:r>
              <a:t>Scenario rule is implemented in matchRoles but a clear end-user scenario comparison interface remains planned. No LLM or GPU inference is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页｜建议 90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【0–15 秒：经历输入】切换到运行中的英文 Demo。选择 See an example，说明这是虚构人物。进入 Try with my experience，点击 Use a sample，展示项目内容、行动与交付物。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【15–35 秒：方向与缺口】回到案例并打开 Career paths。展示八个方向，选 Management Analyst，指出可带走的 Operations、Reporting、Spreadsheets、Communication，以及待补的 Data visualisation。点击匹配依据，解释分数是规则参考。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【35–60 秒：行动计划】点击 View preparation plan，先解释任务与练习，再选择每周可投入时间并生成计划。开启免费的 Pro 演示，展示逐周任务、资源和作品要求。说明周期只是包含练习的规划估计。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【60–75 秒：重新计算】在 Skill review 中主动确认 Data visualisation，再回到 Career paths 展示缺口和匹配变化。说明这属于用户自评，完成任务不会自动证明掌握。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【75–90 秒：趋势与边界】将排序从 Experience fit 切换到 Local demand trend，解释市场排序与个人分数独立。真实市场更新后重排的逻辑已经有自动测试，但当前界面没有现场注入新季度数据的功能。不要把切换排序或假设样本称为新发布市场数据。最后打开数据来源页，展示来源、周期和 RSS 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资料与边界</a:t>
            </a:r>
          </a:p>
          <a:p xmlns:a="http://schemas.openxmlformats.org/drawingml/2006/main">
            <a:r>
              <a:t>Live demo URL: https://repath-ai-0-2.lianghuihu.chatgpt.site . Hosted access may require ChatGPT sign-in. Local demo: node server.mjs, http://localhost:5173.</a:t>
            </a:r>
          </a:p>
          <a:p xmlns:a="http://schemas.openxmlformats.org/drawingml/2006/main">
            <a:r>
              <a:t>Screenshot: actual local RePath 0.2 build, English UI, fictional sample.</a:t>
            </a:r>
          </a:p>
          <a:p xmlns:a="http://schemas.openxmlformats.org/drawingml/2006/main">
            <a:r>
              <a:t>Data-change ordering and unchanged personal scores: ../tests/evidence.test.mjs, test “market ordering changes with observed related-category data; personal scores do not”. Mutated data in that test is hypothetical.</a:t>
            </a:r>
          </a:p>
          <a:p xmlns:a="http://schemas.openxmlformats.org/drawingml/2006/main">
            <a:r>
              <a:t>Timing includes live interaction. Do not claim a completed course, verified skill or job outcome.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页｜建议 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我们的预期价值可以对应三个 SDG 目标。SDG 4.4 关注就业所需的相关技能，RePath 将学习缩小到具体缺口，并要求形成可以讨论的作品。SDG 8.5 关注充分就业和体面工作，我们希望帮助用户识别能够复用经验的相邻方向。SDG 10.2 关注包容，我们通过免费探索、三种语言和可调整节奏，降低进入工具的门槛。产品中也为部分职业标注 SDG 8 或 9 的关联，这些是我们对职业贡献的解释，不是联合国认证。接下来试用会观察用户能否完成第一项行动、作品质量是否改善，以及用户对方向的清晰度是否提升。我们还没有验证就业率、收入或公平性的实际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资料与边界</a:t>
            </a:r>
          </a:p>
          <a:p xmlns:a="http://schemas.openxmlformats.org/drawingml/2006/main">
            <a:r>
              <a:t>UN SDG target 4.4: https://sdgs.un.org/goals/goal4</a:t>
            </a:r>
          </a:p>
          <a:p xmlns:a="http://schemas.openxmlformats.org/drawingml/2006/main">
            <a:r>
              <a:t>UN SDG target 8.5: https://sdgs.un.org/goals/goal8</a:t>
            </a:r>
          </a:p>
          <a:p xmlns:a="http://schemas.openxmlformats.org/drawingml/2006/main">
            <a:r>
              <a:t>UN SDG target 10.2: https://sdgs.un.org/goals/goal10</a:t>
            </a:r>
          </a:p>
          <a:p xmlns:a="http://schemas.openxmlformats.org/drawingml/2006/main">
            <a:r>
              <a:t>Role-level SDG 8/9 annotations: ../dist/model.mjs. All product-to-SDG links are the team’s intended contribution, not UN endorsement.</a:t>
            </a:r>
          </a:p>
          <a:p xmlns:a="http://schemas.openxmlformats.org/drawingml/2006/main">
            <a:r>
              <a:t>Pilot measures and benefits are proposed. No user-study, employment or equity outcome data has been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页｜建议 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我们已经实现可以运行的项目输入、八个方向比较、技能缺口、行动计划和三种语言。技术采用模块化 JavaScript 和静态前端，Node.js 提供本地服务器，记录保存在当前浏览器。接下来优先做用户访谈和作品评审，再接入需要用户确认的模型辅助分析，完善市场更新与情景展示。关键挑战是美国职业参考如何适配马来西亚，以及如何证明用户真的学会了技能。我们会保留来源、进行本地审核，并用作品支持验证。Free 和 Pro 目前只是概念方案，没有真实支付或订阅。我们的目标是，让用户带着已有经验开始下一程。谢谢。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资料与边界</a:t>
            </a:r>
          </a:p>
          <a:p xmlns:a="http://schemas.openxmlformats.org/drawingml/2006/main">
            <a:r>
              <a:t>Implemented scope: actual local code in ../dist/, ../server.mjs and ../release.json. No source changes made for this presentation.</a:t>
            </a:r>
          </a:p>
          <a:p xmlns:a="http://schemas.openxmlformats.org/drawingml/2006/main">
            <a:r>
              <a:t>All roadmap items are proposed without committed dates. No production authentication, payment, cross-device records, LLM API or employment-outcome validation is implemented.</a:t>
            </a:r>
          </a:p>
          <a:p xmlns:a="http://schemas.openxmlformats.org/drawingml/2006/main">
            <a:r>
              <a:t>The competition requirements and weights were supplied by the user. This deck is an eight-slide pitch structure, not an independent handbook compliance certification.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b5a831f49c45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6c494a5b03404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869f01e2114f5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c86a68926b41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69fcc4f60947b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bdd77a196747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424856-4012-453B-9FC6-CAD8A72F3E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D54BD9E-75DF-497F-9BD3-7D4DAD31A85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DD54402-1DBD-4335-8297-2CA2098D9C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850C91-1CCB-432F-8C6F-0E3F0BFB86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6853B8D-F1D0-462B-B213-81C157AA2C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A5DC679-0C20-48B2-A899-1854539BC2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C235658-16F9-444D-B95B-F066F5BAEB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05950CB-E781-4179-80AC-5780B804AA4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8FBEA0-E1E9-4EAC-A9EB-FDB5D5A741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EF0E67-4631-45B8-A208-D1B243EA95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357cdd9140434b" /><Relationship Type="http://schemas.openxmlformats.org/officeDocument/2006/relationships/slideLayout" Target="/ppt/slideLayouts/slideLayout1.xml" Id="R010626265f8f4b60" /><Relationship Type="http://schemas.openxmlformats.org/officeDocument/2006/relationships/slideLayout" Target="/ppt/slideLayouts/slideLayout2.xml" Id="R89e75a77c02949e4" /><Relationship Type="http://schemas.openxmlformats.org/officeDocument/2006/relationships/slideLayout" Target="/ppt/slideLayouts/slideLayout3.xml" Id="R3b4f78e1749045e5" /><Relationship Type="http://schemas.openxmlformats.org/officeDocument/2006/relationships/slideLayout" Target="/ppt/slideLayouts/slideLayout4.xml" Id="R6c84456e7ec14a08" /><Relationship Type="http://schemas.openxmlformats.org/officeDocument/2006/relationships/slideLayout" Target="/ppt/slideLayouts/slideLayout5.xml" Id="Rf0f416b7c467495c" /><Relationship Type="http://schemas.openxmlformats.org/officeDocument/2006/relationships/slideLayout" Target="/ppt/slideLayouts/slideLayout6.xml" Id="R79eedc95adeb4e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0626265f8f4b60"/>
    <p:sldLayoutId xmlns:r="http://schemas.openxmlformats.org/officeDocument/2006/relationships" id="2147483650" r:id="R89e75a77c02949e4"/>
    <p:sldLayoutId xmlns:r="http://schemas.openxmlformats.org/officeDocument/2006/relationships" id="2147483651" r:id="R3b4f78e1749045e5"/>
    <p:sldLayoutId xmlns:r="http://schemas.openxmlformats.org/officeDocument/2006/relationships" id="2147483652" r:id="R6c84456e7ec14a08"/>
    <p:sldLayoutId xmlns:r="http://schemas.openxmlformats.org/officeDocument/2006/relationships" id="2147483653" r:id="Rf0f416b7c467495c"/>
    <p:sldLayoutId xmlns:r="http://schemas.openxmlformats.org/officeDocument/2006/relationships" id="2147483654" r:id="R79eedc95adeb4e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9331d2a6b740fe" /><Relationship Type="http://schemas.openxmlformats.org/officeDocument/2006/relationships/image" Target="/ppt/media/image.png" Id="R43ab553a28e641bb" /><Relationship Type="http://schemas.openxmlformats.org/officeDocument/2006/relationships/notesSlide" Target="/ppt/notesSlides/notesSlide1.xml" Id="R42b3d9d873964d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51bb25fbbc4b18" /><Relationship Type="http://schemas.openxmlformats.org/officeDocument/2006/relationships/notesSlide" Target="/ppt/notesSlides/notesSlide2.xml" Id="R69a4c27ea2aa47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f3d7c9f143404e" /><Relationship Type="http://schemas.openxmlformats.org/officeDocument/2006/relationships/image" Target="/ppt/media/image2.png" Id="Ra789ed2f72dd4890" /><Relationship Type="http://schemas.openxmlformats.org/officeDocument/2006/relationships/notesSlide" Target="/ppt/notesSlides/notesSlide3.xml" Id="Rf4dc37564fdd47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4c470fb0a44bde" /><Relationship Type="http://schemas.openxmlformats.org/officeDocument/2006/relationships/notesSlide" Target="/ppt/notesSlides/notesSlide4.xml" Id="R8077c575a7a243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6f937e6ef547d8" /><Relationship Type="http://schemas.openxmlformats.org/officeDocument/2006/relationships/notesSlide" Target="/ppt/notesSlides/notesSlide5.xml" Id="R0ebba4cd26544e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233dba4f734216" /><Relationship Type="http://schemas.openxmlformats.org/officeDocument/2006/relationships/image" Target="/ppt/media/image3.png" Id="Rf456a848accb4c8a" /><Relationship Type="http://schemas.openxmlformats.org/officeDocument/2006/relationships/notesSlide" Target="/ppt/notesSlides/notesSlide6.xml" Id="R2d2c88b944d647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b3d20d136e411c" /><Relationship Type="http://schemas.openxmlformats.org/officeDocument/2006/relationships/notesSlide" Target="/ppt/notesSlides/notesSlide7.xml" Id="Rbbe84b9dfada47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d57af17f8041a3" /><Relationship Type="http://schemas.openxmlformats.org/officeDocument/2006/relationships/hyperlink" Target="https://repath-ai-0-2.lianghuihu.chatgpt.site/" TargetMode="External" Id="Re2bd3a9ab99649f4" /><Relationship Type="http://schemas.openxmlformats.org/officeDocument/2006/relationships/notesSlide" Target="/ppt/notesSlides/notesSlide8.xml" Id="R695b8ba3d2f44c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FDC23-1012-4929-9890-7C373507C8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b553a28e641bb"/>
          <a:stretch xmlns:a="http://schemas.openxmlformats.org/drawingml/2006/main"/>
        </p:blipFill>
        <p:spPr>
          <a:xfrm xmlns:a="http://schemas.openxmlformats.org/drawingml/2006/main">
            <a:off x="590550" y="5715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2" name="RePath AI">
            <a:extLst xmlns:a="http://schemas.openxmlformats.org/drawingml/2006/main">
              <a:ext uri="{FF2B5EF4-FFF2-40B4-BE49-F238E27FC236}">
                <a16:creationId xmlns:a16="http://schemas.microsoft.com/office/drawing/2014/main" id="{6BB37EFC-2C7D-42AE-9C26-C96AEC44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647700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2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2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2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2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2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2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2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2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2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42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RePath AI</a:t>
            </a:r>
          </a:p>
        </p:txBody>
      </p:sp>
      <p:sp>
        <p:nvSpPr>
          <p:cNvPr id="3" name="Your Experience Still Matters">
            <a:extLst xmlns:a="http://schemas.openxmlformats.org/drawingml/2006/main">
              <a:ext uri="{FF2B5EF4-FFF2-40B4-BE49-F238E27FC236}">
                <a16:creationId xmlns:a16="http://schemas.microsoft.com/office/drawing/2014/main" id="{D355769C-052C-4685-85BE-64A3E09B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85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61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61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61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61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61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61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61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61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61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61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Your Experience</a:t>
            </a:r>
          </a:p>
          <a:p xmlns:a="http://schemas.openxmlformats.org/drawingml/2006/main">
            <a:pPr algn="l">
              <a:buNone/>
              <a:defRPr sz="61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Still Matters</a:t>
            </a:r>
          </a:p>
        </p:txBody>
      </p:sp>
      <p:sp>
        <p:nvSpPr>
          <p:cNvPr id="4" name="Career transitions built on the work you have already done">
            <a:extLst xmlns:a="http://schemas.openxmlformats.org/drawingml/2006/main">
              <a:ext uri="{FF2B5EF4-FFF2-40B4-BE49-F238E27FC236}">
                <a16:creationId xmlns:a16="http://schemas.microsoft.com/office/drawing/2014/main" id="{6785C51A-5814-40FD-9915-0D73BB30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rPr>
              <a:t>Career transitions built on the work you have already done</a:t>
            </a:r>
          </a:p>
        </p:txBody>
      </p:sp>
      <p:sp>
        <p:nvSpPr>
          <p:cNvPr id="5" name="Team Gravity">
            <a:extLst xmlns:a="http://schemas.openxmlformats.org/drawingml/2006/main">
              <a:ext uri="{FF2B5EF4-FFF2-40B4-BE49-F238E27FC236}">
                <a16:creationId xmlns:a16="http://schemas.microsoft.com/office/drawing/2014/main" id="{DCDC183A-6E88-46B0-BC84-3B1FB375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24525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Team Gravity</a:t>
            </a:r>
          </a:p>
        </p:txBody>
      </p:sp>
      <p:sp>
        <p:nvSpPr>
          <p:cNvPr id="6" name="Wu Tong    Liang Yiyan">
            <a:extLst xmlns:a="http://schemas.openxmlformats.org/drawingml/2006/main">
              <a:ext uri="{FF2B5EF4-FFF2-40B4-BE49-F238E27FC236}">
                <a16:creationId xmlns:a16="http://schemas.microsoft.com/office/drawing/2014/main" id="{BF1707E3-A7F4-4C57-B18E-F24ADE49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Wu Tong    Liang Yiyan</a:t>
            </a:r>
          </a:p>
        </p:txBody>
      </p:sp>
      <p:sp>
        <p:nvSpPr>
          <p:cNvPr id="7" name="SDC Hackathon 2026">
            <a:extLst xmlns:a="http://schemas.openxmlformats.org/drawingml/2006/main">
              <a:ext uri="{FF2B5EF4-FFF2-40B4-BE49-F238E27FC236}">
                <a16:creationId xmlns:a16="http://schemas.microsoft.com/office/drawing/2014/main" id="{E2074323-72DB-4F9C-A2BB-C4A931AD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724525"/>
            <a:ext cx="3571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SDC Hackathon 2026</a:t>
            </a:r>
          </a:p>
        </p:txBody>
      </p:sp>
      <p:sp>
        <p:nvSpPr>
          <p:cNvPr id="8" name="Domain 1">
            <a:extLst xmlns:a="http://schemas.openxmlformats.org/drawingml/2006/main">
              <a:ext uri="{FF2B5EF4-FFF2-40B4-BE49-F238E27FC236}">
                <a16:creationId xmlns:a16="http://schemas.microsoft.com/office/drawing/2014/main" id="{F39A2AA4-38F7-4578-AA36-872AB109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096000"/>
            <a:ext cx="3571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Domain 1</a:t>
            </a:r>
          </a:p>
        </p:txBody>
      </p:sp>
      <p:sp>
        <p:nvSpPr>
          <p:cNvPr id="9" name="Prototype 0.2">
            <a:extLst xmlns:a="http://schemas.openxmlformats.org/drawingml/2006/main">
              <a:ext uri="{FF2B5EF4-FFF2-40B4-BE49-F238E27FC236}">
                <a16:creationId xmlns:a16="http://schemas.microsoft.com/office/drawing/2014/main" id="{BAA7765B-4D7B-40B8-A974-357515C5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9057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Prototype 0.2</a:t>
            </a:r>
          </a:p>
        </p:txBody>
      </p:sp>
    </p:spTree>
    <p:extLst>
      <p:ext uri="{BB962C8B-B14F-4D97-AF65-F5344CB8AC3E}">
        <p14:creationId xmlns:p14="http://schemas.microsoft.com/office/powerpoint/2010/main" val="1435241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he Problem">
            <a:extLst xmlns:a="http://schemas.openxmlformats.org/drawingml/2006/main">
              <a:ext uri="{FF2B5EF4-FFF2-40B4-BE49-F238E27FC236}">
                <a16:creationId xmlns:a16="http://schemas.microsoft.com/office/drawing/2014/main" id="{60BF50DB-6306-471C-87B6-D1E1776D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The Problem</a:t>
            </a:r>
          </a:p>
        </p:txBody>
      </p:sp>
      <p:sp>
        <p:nvSpPr>
          <p:cNvPr id="2" name="RePath AI">
            <a:extLst xmlns:a="http://schemas.openxmlformats.org/drawingml/2006/main">
              <a:ext uri="{FF2B5EF4-FFF2-40B4-BE49-F238E27FC236}">
                <a16:creationId xmlns:a16="http://schemas.microsoft.com/office/drawing/2014/main" id="{79A74D02-FD9A-43FC-8595-A8176EC5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RePath AI</a:t>
            </a:r>
          </a:p>
        </p:txBody>
      </p:sp>
      <p:sp>
        <p:nvSpPr>
          <p:cNvPr id="3" name="02 / 08">
            <a:extLst xmlns:a="http://schemas.openxmlformats.org/drawingml/2006/main">
              <a:ext uri="{FF2B5EF4-FFF2-40B4-BE49-F238E27FC236}">
                <a16:creationId xmlns:a16="http://schemas.microsoft.com/office/drawing/2014/main" id="{1F323B6D-028B-4964-95B0-45834692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4" name="Work changes. Experience becomes harder to translate.">
            <a:extLst xmlns:a="http://schemas.openxmlformats.org/drawingml/2006/main">
              <a:ext uri="{FF2B5EF4-FFF2-40B4-BE49-F238E27FC236}">
                <a16:creationId xmlns:a16="http://schemas.microsoft.com/office/drawing/2014/main" id="{95A4877F-FC97-4E36-96F4-A30462F3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6000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3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3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3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3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3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3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3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3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3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43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Work changes.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Experience becomes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harder to translate.</a:t>
            </a:r>
          </a:p>
        </p:txBody>
      </p:sp>
      <p:sp>
        <p:nvSpPr>
          <p:cNvPr id="5" name="AI and information processing are changing employers’ expect">
            <a:extLst xmlns:a="http://schemas.openxmlformats.org/drawingml/2006/main">
              <a:ext uri="{FF2B5EF4-FFF2-40B4-BE49-F238E27FC236}">
                <a16:creationId xmlns:a16="http://schemas.microsoft.com/office/drawing/2014/main" id="{C2623096-2CAB-426D-944F-E3D823D9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0075"/>
            <a:ext cx="600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AI and information processing are changing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employers’ expectations for work and skills.</a:t>
            </a:r>
          </a:p>
        </p:txBody>
      </p:sp>
      <p:sp>
        <p:nvSpPr>
          <p:cNvPr id="6" name="The transition gap">
            <a:extLst xmlns:a="http://schemas.openxmlformats.org/drawingml/2006/main">
              <a:ext uri="{FF2B5EF4-FFF2-40B4-BE49-F238E27FC236}">
                <a16:creationId xmlns:a16="http://schemas.microsoft.com/office/drawing/2014/main" id="{B53FC4D8-6BCD-4C05-8C17-A17501AF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58115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rPr>
              <a:t>The transition gap</a:t>
            </a:r>
          </a:p>
        </p:txBody>
      </p:sp>
      <p:sp>
        <p:nvSpPr>
          <p:cNvPr id="7" name="01   What can I carry forward?">
            <a:extLst xmlns:a="http://schemas.openxmlformats.org/drawingml/2006/main">
              <a:ext uri="{FF2B5EF4-FFF2-40B4-BE49-F238E27FC236}">
                <a16:creationId xmlns:a16="http://schemas.microsoft.com/office/drawing/2014/main" id="{EB4CE738-31A4-4A21-AB7A-4A3A7F19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35267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01   What can I carry forward?</a:t>
            </a:r>
          </a:p>
        </p:txBody>
      </p:sp>
      <p:sp>
        <p:nvSpPr>
          <p:cNvPr id="8" name="02   Which adjacent roles fit?">
            <a:extLst xmlns:a="http://schemas.openxmlformats.org/drawingml/2006/main">
              <a:ext uri="{FF2B5EF4-FFF2-40B4-BE49-F238E27FC236}">
                <a16:creationId xmlns:a16="http://schemas.microsoft.com/office/drawing/2014/main" id="{F35D9E63-436B-4411-9A53-F7F8D165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20992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02   Which adjacent roles fit?</a:t>
            </a:r>
          </a:p>
        </p:txBody>
      </p:sp>
      <p:sp>
        <p:nvSpPr>
          <p:cNvPr id="9" name="03   What should I learn first?">
            <a:extLst xmlns:a="http://schemas.openxmlformats.org/drawingml/2006/main">
              <a:ext uri="{FF2B5EF4-FFF2-40B4-BE49-F238E27FC236}">
                <a16:creationId xmlns:a16="http://schemas.microsoft.com/office/drawing/2014/main" id="{186C16DB-656D-472A-ACFC-AF250F13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06717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03   What should I learn first?</a:t>
            </a:r>
          </a:p>
        </p:txBody>
      </p:sp>
      <p:sp>
        <p:nvSpPr>
          <p:cNvPr id="10" name="User pain points are hypotheses for interviews and pilot tes">
            <a:extLst xmlns:a="http://schemas.openxmlformats.org/drawingml/2006/main">
              <a:ext uri="{FF2B5EF4-FFF2-40B4-BE49-F238E27FC236}">
                <a16:creationId xmlns:a16="http://schemas.microsoft.com/office/drawing/2014/main" id="{785DE6B9-8D30-4B1A-BCCD-97924CDF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5210175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User pain points are hypotheses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for interviews and pilot testing.</a:t>
            </a:r>
          </a:p>
        </p:txBody>
      </p:sp>
    </p:spTree>
    <p:extLst>
      <p:ext uri="{BB962C8B-B14F-4D97-AF65-F5344CB8AC3E}">
        <p14:creationId xmlns:p14="http://schemas.microsoft.com/office/powerpoint/2010/main" val="4534002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Who We Help">
            <a:extLst xmlns:a="http://schemas.openxmlformats.org/drawingml/2006/main">
              <a:ext uri="{FF2B5EF4-FFF2-40B4-BE49-F238E27FC236}">
                <a16:creationId xmlns:a16="http://schemas.microsoft.com/office/drawing/2014/main" id="{1F9E2B03-E0C7-4C9F-AB42-4B52703E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Who We Help</a:t>
            </a:r>
          </a:p>
        </p:txBody>
      </p:sp>
      <p:sp>
        <p:nvSpPr>
          <p:cNvPr id="2" name="RePath AI">
            <a:extLst xmlns:a="http://schemas.openxmlformats.org/drawingml/2006/main">
              <a:ext uri="{FF2B5EF4-FFF2-40B4-BE49-F238E27FC236}">
                <a16:creationId xmlns:a16="http://schemas.microsoft.com/office/drawing/2014/main" id="{8B215746-0B04-433A-9710-35AEBAE4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RePath AI</a:t>
            </a:r>
          </a:p>
        </p:txBody>
      </p:sp>
      <p:sp>
        <p:nvSpPr>
          <p:cNvPr id="3" name="03 / 08">
            <a:extLst xmlns:a="http://schemas.openxmlformats.org/drawingml/2006/main">
              <a:ext uri="{FF2B5EF4-FFF2-40B4-BE49-F238E27FC236}">
                <a16:creationId xmlns:a16="http://schemas.microsoft.com/office/drawing/2014/main" id="{1F6EFB9D-9B2D-40C8-900F-3819B34E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03 / 08</a:t>
            </a:r>
          </a:p>
        </p:txBody>
      </p:sp>
      <p:sp>
        <p:nvSpPr>
          <p:cNvPr id="4" name="Experienced mid-career workers in Malaysia">
            <a:extLst xmlns:a="http://schemas.openxmlformats.org/drawingml/2006/main">
              <a:ext uri="{FF2B5EF4-FFF2-40B4-BE49-F238E27FC236}">
                <a16:creationId xmlns:a16="http://schemas.microsoft.com/office/drawing/2014/main" id="{C8C09F00-C8A5-4A59-90E7-5AFD1C0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rPr>
              <a:t>Experienced mid-career workers in Malaysia</a:t>
            </a:r>
          </a:p>
        </p:txBody>
      </p:sp>
      <p:sp>
        <p:nvSpPr>
          <p:cNvPr id="5" name="10">
            <a:extLst xmlns:a="http://schemas.openxmlformats.org/drawingml/2006/main">
              <a:ext uri="{FF2B5EF4-FFF2-40B4-BE49-F238E27FC236}">
                <a16:creationId xmlns:a16="http://schemas.microsoft.com/office/drawing/2014/main" id="{04B723A0-1423-4DA9-9A47-3CDB425C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619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82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82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82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82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82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82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82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82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82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82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years in operations and marketing">
            <a:extLst xmlns:a="http://schemas.openxmlformats.org/drawingml/2006/main">
              <a:ext uri="{FF2B5EF4-FFF2-40B4-BE49-F238E27FC236}">
                <a16:creationId xmlns:a16="http://schemas.microsoft.com/office/drawing/2014/main" id="{475AC4BB-9C64-485B-AC81-CD25D33B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428875"/>
            <a:ext cx="4095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years in operations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and marketing</a:t>
            </a:r>
          </a:p>
        </p:txBody>
      </p:sp>
      <p:sp>
        <p:nvSpPr>
          <p:cNvPr id="7" name="Alex Tan">
            <a:extLst xmlns:a="http://schemas.openxmlformats.org/drawingml/2006/main">
              <a:ext uri="{FF2B5EF4-FFF2-40B4-BE49-F238E27FC236}">
                <a16:creationId xmlns:a16="http://schemas.microsoft.com/office/drawing/2014/main" id="{3E341CB3-70E6-4FB2-9F19-4948D1B5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479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Alex Tan</a:t>
            </a:r>
          </a:p>
        </p:txBody>
      </p:sp>
      <p:sp>
        <p:nvSpPr>
          <p:cNvPr id="8" name="Fictional demo persona">
            <a:extLst xmlns:a="http://schemas.openxmlformats.org/drawingml/2006/main">
              <a:ext uri="{FF2B5EF4-FFF2-40B4-BE49-F238E27FC236}">
                <a16:creationId xmlns:a16="http://schemas.microsoft.com/office/drawing/2014/main" id="{9FA093B4-9241-4FD6-AA54-829A84D4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622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Fictional demo persona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69BCC-AD75-4840-8A1D-876142CD88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9ed2f72dd4890"/>
          <a:stretch xmlns:a="http://schemas.openxmlformats.org/drawingml/2006/main"/>
        </p:blipFill>
        <p:spPr>
          <a:xfrm xmlns:a="http://schemas.openxmlformats.org/drawingml/2006/main">
            <a:off x="2113569" y="3676650"/>
            <a:ext cx="7964861" cy="2314575"/>
          </a:xfrm>
          <a:prstGeom xmlns:a="http://schemas.openxmlformats.org/drawingml/2006/main" prst="rect">
            <a:avLst/>
          </a:prstGeom>
        </p:spPr>
      </p:pic>
      <p:sp>
        <p:nvSpPr>
          <p:cNvPr id="10" name="Four of five prototype role skills already covered. Data vis">
            <a:extLst xmlns:a="http://schemas.openxmlformats.org/drawingml/2006/main">
              <a:ext uri="{FF2B5EF4-FFF2-40B4-BE49-F238E27FC236}">
                <a16:creationId xmlns:a16="http://schemas.microsoft.com/office/drawing/2014/main" id="{01ECE5FF-DBA8-4801-A37E-BC1027A9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05525"/>
            <a:ext cx="1091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rPr>
              <a:t>Four of five prototype role skills already covered. Data visualisation is the next gap.</a:t>
            </a:r>
          </a:p>
        </p:txBody>
      </p:sp>
    </p:spTree>
    <p:extLst>
      <p:ext uri="{BB962C8B-B14F-4D97-AF65-F5344CB8AC3E}">
        <p14:creationId xmlns:p14="http://schemas.microsoft.com/office/powerpoint/2010/main" val="13854915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Our Solution">
            <a:extLst xmlns:a="http://schemas.openxmlformats.org/drawingml/2006/main">
              <a:ext uri="{FF2B5EF4-FFF2-40B4-BE49-F238E27FC236}">
                <a16:creationId xmlns:a16="http://schemas.microsoft.com/office/drawing/2014/main" id="{610CC67A-4C3C-4E15-841D-8AF00F0C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Our Solution</a:t>
            </a:r>
          </a:p>
        </p:txBody>
      </p:sp>
      <p:sp>
        <p:nvSpPr>
          <p:cNvPr id="2" name="RePath AI">
            <a:extLst xmlns:a="http://schemas.openxmlformats.org/drawingml/2006/main">
              <a:ext uri="{FF2B5EF4-FFF2-40B4-BE49-F238E27FC236}">
                <a16:creationId xmlns:a16="http://schemas.microsoft.com/office/drawing/2014/main" id="{E2FE732B-4590-466B-AC9E-0A218BA7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RePath AI</a:t>
            </a:r>
          </a:p>
        </p:txBody>
      </p:sp>
      <p:sp>
        <p:nvSpPr>
          <p:cNvPr id="3" name="04 / 08">
            <a:extLst xmlns:a="http://schemas.openxmlformats.org/drawingml/2006/main">
              <a:ext uri="{FF2B5EF4-FFF2-40B4-BE49-F238E27FC236}">
                <a16:creationId xmlns:a16="http://schemas.microsoft.com/office/drawing/2014/main" id="{C251EF91-A669-4BA5-B575-7D6C23F7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4" name="One journey from project experience to a next action">
            <a:extLst xmlns:a="http://schemas.openxmlformats.org/drawingml/2006/main">
              <a:ext uri="{FF2B5EF4-FFF2-40B4-BE49-F238E27FC236}">
                <a16:creationId xmlns:a16="http://schemas.microsoft.com/office/drawing/2014/main" id="{EFDBE335-E61F-492B-A2A9-3CE988D4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rPr>
              <a:t>One journey from project experience to a next action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4A469E01-D39A-4AB0-BD68-6D23CEC4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Experience">
            <a:extLst xmlns:a="http://schemas.openxmlformats.org/drawingml/2006/main">
              <a:ext uri="{FF2B5EF4-FFF2-40B4-BE49-F238E27FC236}">
                <a16:creationId xmlns:a16="http://schemas.microsoft.com/office/drawing/2014/main" id="{D016D58F-3422-4AA6-AA9B-AB5E50EC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Experience</a:t>
            </a:r>
          </a:p>
        </p:txBody>
      </p:sp>
      <p:sp>
        <p:nvSpPr>
          <p:cNvPr id="7" name="Describe your projects and current priorities">
            <a:extLst xmlns:a="http://schemas.openxmlformats.org/drawingml/2006/main">
              <a:ext uri="{FF2B5EF4-FFF2-40B4-BE49-F238E27FC236}">
                <a16:creationId xmlns:a16="http://schemas.microsoft.com/office/drawing/2014/main" id="{C6010330-52E6-4D80-A9FE-6E899A3C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495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Describe your projects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and current priorities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6B1F44E9-D6B7-4E6E-B467-3F69E3D4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098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Skill profile">
            <a:extLst xmlns:a="http://schemas.openxmlformats.org/drawingml/2006/main">
              <a:ext uri="{FF2B5EF4-FFF2-40B4-BE49-F238E27FC236}">
                <a16:creationId xmlns:a16="http://schemas.microsoft.com/office/drawing/2014/main" id="{BD311366-F87E-47D7-AD0D-3FBF8C88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81325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Skill profile</a:t>
            </a:r>
          </a:p>
        </p:txBody>
      </p:sp>
      <p:sp>
        <p:nvSpPr>
          <p:cNvPr id="10" name="Confirm skills used in your work">
            <a:extLst xmlns:a="http://schemas.openxmlformats.org/drawingml/2006/main">
              <a:ext uri="{FF2B5EF4-FFF2-40B4-BE49-F238E27FC236}">
                <a16:creationId xmlns:a16="http://schemas.microsoft.com/office/drawing/2014/main" id="{7563F6F5-4AD9-49B8-A927-ED49F739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38550"/>
            <a:ext cx="2495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Confirm skills used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in your work</a:t>
            </a:r>
          </a:p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3F917D6B-2CAC-4B1A-BE5A-54DA20F8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98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Role matching">
            <a:extLst xmlns:a="http://schemas.openxmlformats.org/drawingml/2006/main">
              <a:ext uri="{FF2B5EF4-FFF2-40B4-BE49-F238E27FC236}">
                <a16:creationId xmlns:a16="http://schemas.microsoft.com/office/drawing/2014/main" id="{3CC71341-B29F-4979-89B8-F39B6240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81325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Role matching</a:t>
            </a:r>
          </a:p>
        </p:txBody>
      </p:sp>
      <p:sp>
        <p:nvSpPr>
          <p:cNvPr id="13" name="Compare adjacent roles and visible skill gaps">
            <a:extLst xmlns:a="http://schemas.openxmlformats.org/drawingml/2006/main">
              <a:ext uri="{FF2B5EF4-FFF2-40B4-BE49-F238E27FC236}">
                <a16:creationId xmlns:a16="http://schemas.microsoft.com/office/drawing/2014/main" id="{FFD81CEF-304F-4124-9568-02732FF2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2495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Compare adjacent roles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and visible skill gaps</a:t>
            </a:r>
          </a:p>
        </p:txBody>
      </p:sp>
      <p:sp>
        <p:nvSpPr>
          <p:cNvPr id="14" name="04">
            <a:extLst xmlns:a="http://schemas.openxmlformats.org/drawingml/2006/main">
              <a:ext uri="{FF2B5EF4-FFF2-40B4-BE49-F238E27FC236}">
                <a16:creationId xmlns:a16="http://schemas.microsoft.com/office/drawing/2014/main" id="{F179BA82-EB6B-4F2D-9595-52C2EC7A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098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Reskilling">
            <a:extLst xmlns:a="http://schemas.openxmlformats.org/drawingml/2006/main">
              <a:ext uri="{FF2B5EF4-FFF2-40B4-BE49-F238E27FC236}">
                <a16:creationId xmlns:a16="http://schemas.microsoft.com/office/drawing/2014/main" id="{CE68A7BB-26E1-4B10-9B6B-545B3252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81325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Reskilling</a:t>
            </a:r>
          </a:p>
        </p:txBody>
      </p:sp>
      <p:sp>
        <p:nvSpPr>
          <p:cNvPr id="16" name="Set weekly time and follow a practical plan">
            <a:extLst xmlns:a="http://schemas.openxmlformats.org/drawingml/2006/main">
              <a:ext uri="{FF2B5EF4-FFF2-40B4-BE49-F238E27FC236}">
                <a16:creationId xmlns:a16="http://schemas.microsoft.com/office/drawing/2014/main" id="{2FD3A8AB-FC46-4AE7-BCC5-802600D3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38550"/>
            <a:ext cx="2495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Set weekly time and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follow a practical plan</a:t>
            </a:r>
          </a:p>
        </p:txBody>
      </p:sp>
      <p:sp>
        <p:nvSpPr>
          <p:cNvPr id="17" name="8 career directions">
            <a:extLst xmlns:a="http://schemas.openxmlformats.org/drawingml/2006/main">
              <a:ext uri="{FF2B5EF4-FFF2-40B4-BE49-F238E27FC236}">
                <a16:creationId xmlns:a16="http://schemas.microsoft.com/office/drawing/2014/main" id="{61470CDB-4D33-4136-9516-55751F16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7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7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7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7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7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7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7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7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7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77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8 career directions</a:t>
            </a:r>
          </a:p>
        </p:txBody>
      </p:sp>
      <p:sp>
        <p:nvSpPr>
          <p:cNvPr id="18" name="English, 中文 and Bahasa Melayu">
            <a:extLst xmlns:a="http://schemas.openxmlformats.org/drawingml/2006/main">
              <a:ext uri="{FF2B5EF4-FFF2-40B4-BE49-F238E27FC236}">
                <a16:creationId xmlns:a16="http://schemas.microsoft.com/office/drawing/2014/main" id="{687E71ED-C255-4EDB-9BE7-2F0A5E83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English, 中文 and Bahasa Melayu</a:t>
            </a:r>
          </a:p>
        </p:txBody>
      </p:sp>
      <p:sp>
        <p:nvSpPr>
          <p:cNvPr id="19" name="Urgent income: apply while practising. Study period: build a">
            <a:extLst xmlns:a="http://schemas.openxmlformats.org/drawingml/2006/main">
              <a:ext uri="{FF2B5EF4-FFF2-40B4-BE49-F238E27FC236}">
                <a16:creationId xmlns:a16="http://schemas.microsoft.com/office/drawing/2014/main" id="{04CF5299-F5B1-47D3-B11E-0CBD7D5F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38750"/>
            <a:ext cx="521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rPr>
              <a:t>Urgent income: apply while practising.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rPr>
              <a:t>Study period: build a work sample first.</a:t>
            </a:r>
          </a:p>
        </p:txBody>
      </p:sp>
    </p:spTree>
    <p:extLst>
      <p:ext uri="{BB962C8B-B14F-4D97-AF65-F5344CB8AC3E}">
        <p14:creationId xmlns:p14="http://schemas.microsoft.com/office/powerpoint/2010/main" val="15735398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How Our AI Works">
            <a:extLst xmlns:a="http://schemas.openxmlformats.org/drawingml/2006/main">
              <a:ext uri="{FF2B5EF4-FFF2-40B4-BE49-F238E27FC236}">
                <a16:creationId xmlns:a16="http://schemas.microsoft.com/office/drawing/2014/main" id="{078EB7F2-1FF3-4B18-A7AE-7FD4CBD7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How Our AI Works</a:t>
            </a:r>
          </a:p>
        </p:txBody>
      </p:sp>
      <p:sp>
        <p:nvSpPr>
          <p:cNvPr id="2" name="RePath AI">
            <a:extLst xmlns:a="http://schemas.openxmlformats.org/drawingml/2006/main">
              <a:ext uri="{FF2B5EF4-FFF2-40B4-BE49-F238E27FC236}">
                <a16:creationId xmlns:a16="http://schemas.microsoft.com/office/drawing/2014/main" id="{77F5B9AB-6FBE-4EF2-8408-B0D677FF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RePath AI</a:t>
            </a:r>
          </a:p>
        </p:txBody>
      </p:sp>
      <p:sp>
        <p:nvSpPr>
          <p:cNvPr id="3" name="05 / 08">
            <a:extLst xmlns:a="http://schemas.openxmlformats.org/drawingml/2006/main">
              <a:ext uri="{FF2B5EF4-FFF2-40B4-BE49-F238E27FC236}">
                <a16:creationId xmlns:a16="http://schemas.microsoft.com/office/drawing/2014/main" id="{F079A4AD-E2ED-4E0E-BEC6-56ACD6CA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4" name="Current engine: transparent rules. Generative AI is planned.">
            <a:extLst xmlns:a="http://schemas.openxmlformats.org/drawingml/2006/main">
              <a:ext uri="{FF2B5EF4-FFF2-40B4-BE49-F238E27FC236}">
                <a16:creationId xmlns:a16="http://schemas.microsoft.com/office/drawing/2014/main" id="{441C523A-9D10-4E9B-9739-EFC109DB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rPr>
              <a:t>Current engine: transparent rules. Generative AI is planned.</a:t>
            </a:r>
          </a:p>
        </p:txBody>
      </p:sp>
      <p:sp>
        <p:nvSpPr>
          <p:cNvPr id="5" name="DOSM">
            <a:extLst xmlns:a="http://schemas.openxmlformats.org/drawingml/2006/main">
              <a:ext uri="{FF2B5EF4-FFF2-40B4-BE49-F238E27FC236}">
                <a16:creationId xmlns:a16="http://schemas.microsoft.com/office/drawing/2014/main" id="{E05D2828-E77D-4F4E-8D08-6F9975AB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57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DOSM</a:t>
            </a:r>
          </a:p>
        </p:txBody>
      </p:sp>
      <p:sp>
        <p:nvSpPr>
          <p:cNvPr id="6" name="Malaysia hiring">
            <a:extLst xmlns:a="http://schemas.openxmlformats.org/drawingml/2006/main">
              <a:ext uri="{FF2B5EF4-FFF2-40B4-BE49-F238E27FC236}">
                <a16:creationId xmlns:a16="http://schemas.microsoft.com/office/drawing/2014/main" id="{D45ADA2F-D6AD-412F-B8E0-F2F38E45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2590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Malaysia hiring</a:t>
            </a:r>
          </a:p>
        </p:txBody>
      </p:sp>
      <p:sp>
        <p:nvSpPr>
          <p:cNvPr id="7" name="Quarterly imports">
            <a:extLst xmlns:a="http://schemas.openxmlformats.org/drawingml/2006/main">
              <a:ext uri="{FF2B5EF4-FFF2-40B4-BE49-F238E27FC236}">
                <a16:creationId xmlns:a16="http://schemas.microsoft.com/office/drawing/2014/main" id="{D3360A4A-A021-4FD8-8754-DA2CF7DE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rPr>
              <a:t>Quarterly imports</a:t>
            </a:r>
          </a:p>
        </p:txBody>
      </p:sp>
      <p:sp>
        <p:nvSpPr>
          <p:cNvPr id="8" name="arXiv">
            <a:extLst xmlns:a="http://schemas.openxmlformats.org/drawingml/2006/main">
              <a:ext uri="{FF2B5EF4-FFF2-40B4-BE49-F238E27FC236}">
                <a16:creationId xmlns:a16="http://schemas.microsoft.com/office/drawing/2014/main" id="{9D40A55B-00BB-43BF-BD76-4B05FC05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14550"/>
            <a:ext cx="257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arXiv</a:t>
            </a:r>
          </a:p>
        </p:txBody>
      </p:sp>
      <p:sp>
        <p:nvSpPr>
          <p:cNvPr id="9" name="AI research">
            <a:extLst xmlns:a="http://schemas.openxmlformats.org/drawingml/2006/main">
              <a:ext uri="{FF2B5EF4-FFF2-40B4-BE49-F238E27FC236}">
                <a16:creationId xmlns:a16="http://schemas.microsoft.com/office/drawing/2014/main" id="{54D6EB45-C4BD-41B9-90BD-16951211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67000"/>
            <a:ext cx="2590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AI research</a:t>
            </a:r>
          </a:p>
        </p:txBody>
      </p:sp>
      <p:sp>
        <p:nvSpPr>
          <p:cNvPr id="10" name="RSS refresh + cache">
            <a:extLst xmlns:a="http://schemas.openxmlformats.org/drawingml/2006/main">
              <a:ext uri="{FF2B5EF4-FFF2-40B4-BE49-F238E27FC236}">
                <a16:creationId xmlns:a16="http://schemas.microsoft.com/office/drawing/2014/main" id="{44AC26A4-7697-4D82-8E60-CA8A365A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76575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rPr>
              <a:t>RSS refresh + cache</a:t>
            </a:r>
          </a:p>
        </p:txBody>
      </p:sp>
      <p:sp>
        <p:nvSpPr>
          <p:cNvPr id="11" name="WEF">
            <a:extLst xmlns:a="http://schemas.openxmlformats.org/drawingml/2006/main">
              <a:ext uri="{FF2B5EF4-FFF2-40B4-BE49-F238E27FC236}">
                <a16:creationId xmlns:a16="http://schemas.microsoft.com/office/drawing/2014/main" id="{331ECD27-0570-4CEC-92C0-47B5E0B7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257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WEF</a:t>
            </a:r>
          </a:p>
        </p:txBody>
      </p:sp>
      <p:sp>
        <p:nvSpPr>
          <p:cNvPr id="12" name="Long-term outlook">
            <a:extLst xmlns:a="http://schemas.openxmlformats.org/drawingml/2006/main">
              <a:ext uri="{FF2B5EF4-FFF2-40B4-BE49-F238E27FC236}">
                <a16:creationId xmlns:a16="http://schemas.microsoft.com/office/drawing/2014/main" id="{71C07E32-259A-44E4-AF9A-48CE4EF9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67000"/>
            <a:ext cx="2590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Long-term outlook</a:t>
            </a:r>
          </a:p>
        </p:txBody>
      </p:sp>
      <p:sp>
        <p:nvSpPr>
          <p:cNvPr id="13" name="Periodic reports">
            <a:extLst xmlns:a="http://schemas.openxmlformats.org/drawingml/2006/main">
              <a:ext uri="{FF2B5EF4-FFF2-40B4-BE49-F238E27FC236}">
                <a16:creationId xmlns:a16="http://schemas.microsoft.com/office/drawing/2014/main" id="{18B2A938-3905-44AA-B1D8-14BC36D5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76575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rPr>
              <a:t>Periodic reports</a:t>
            </a:r>
          </a:p>
        </p:txBody>
      </p:sp>
      <p:sp>
        <p:nvSpPr>
          <p:cNvPr id="14" name="O*NET">
            <a:extLst xmlns:a="http://schemas.openxmlformats.org/drawingml/2006/main">
              <a:ext uri="{FF2B5EF4-FFF2-40B4-BE49-F238E27FC236}">
                <a16:creationId xmlns:a16="http://schemas.microsoft.com/office/drawing/2014/main" id="{780D096E-3C7D-4F2F-9628-C17CE7D1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14550"/>
            <a:ext cx="257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O*NET</a:t>
            </a:r>
          </a:p>
        </p:txBody>
      </p:sp>
      <p:sp>
        <p:nvSpPr>
          <p:cNvPr id="15" name="Role tasks">
            <a:extLst xmlns:a="http://schemas.openxmlformats.org/drawingml/2006/main">
              <a:ext uri="{FF2B5EF4-FFF2-40B4-BE49-F238E27FC236}">
                <a16:creationId xmlns:a16="http://schemas.microsoft.com/office/drawing/2014/main" id="{A8BE2B31-C469-4BBA-B9B8-362FF211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67000"/>
            <a:ext cx="2590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Role tasks</a:t>
            </a:r>
          </a:p>
        </p:txBody>
      </p:sp>
      <p:sp>
        <p:nvSpPr>
          <p:cNvPr id="16" name="Versioned database">
            <a:extLst xmlns:a="http://schemas.openxmlformats.org/drawingml/2006/main">
              <a:ext uri="{FF2B5EF4-FFF2-40B4-BE49-F238E27FC236}">
                <a16:creationId xmlns:a16="http://schemas.microsoft.com/office/drawing/2014/main" id="{5A45AE7D-B1A6-4D38-881A-911CE1FC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76575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rPr>
              <a:t>Versioned database</a:t>
            </a:r>
          </a:p>
        </p:txBody>
      </p:sp>
      <p:sp>
        <p:nvSpPr>
          <p:cNvPr id="17" name="Personal fit">
            <a:extLst xmlns:a="http://schemas.openxmlformats.org/drawingml/2006/main">
              <a:ext uri="{FF2B5EF4-FFF2-40B4-BE49-F238E27FC236}">
                <a16:creationId xmlns:a16="http://schemas.microsoft.com/office/drawing/2014/main" id="{E32361DA-733F-4E25-AA3C-DC4EC9EE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Personal fit</a:t>
            </a:r>
          </a:p>
        </p:txBody>
      </p:sp>
      <p:sp>
        <p:nvSpPr>
          <p:cNvPr id="18" name="Weights: skills 35 + experience 25 + feasibility 15 after ti">
            <a:extLst xmlns:a="http://schemas.openxmlformats.org/drawingml/2006/main">
              <a:ext uri="{FF2B5EF4-FFF2-40B4-BE49-F238E27FC236}">
                <a16:creationId xmlns:a16="http://schemas.microsoft.com/office/drawing/2014/main" id="{65B33467-3B9F-43D5-AB50-3EC01D4A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3244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Weights: skills 35 + experience 25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+ feasibility 15 after time is confirmed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Available weights are renormalised</a:t>
            </a:r>
          </a:p>
        </p:txBody>
      </p:sp>
      <p:sp>
        <p:nvSpPr>
          <p:cNvPr id="19" name="Market observation">
            <a:extLst xmlns:a="http://schemas.openxmlformats.org/drawingml/2006/main">
              <a:ext uri="{FF2B5EF4-FFF2-40B4-BE49-F238E27FC236}">
                <a16:creationId xmlns:a16="http://schemas.microsoft.com/office/drawing/2014/main" id="{50764169-6B34-4540-B550-50C56023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05275"/>
            <a:ext cx="5153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Market observation</a:t>
            </a:r>
          </a:p>
        </p:txBody>
      </p:sp>
      <p:sp>
        <p:nvSpPr>
          <p:cNvPr id="20" name="Related DOSM categories affect trend order Research and outl">
            <a:extLst xmlns:a="http://schemas.openxmlformats.org/drawingml/2006/main">
              <a:ext uri="{FF2B5EF4-FFF2-40B4-BE49-F238E27FC236}">
                <a16:creationId xmlns:a16="http://schemas.microsoft.com/office/drawing/2014/main" id="{8BED4397-0164-4649-AE07-336005E8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67250"/>
            <a:ext cx="5153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Related DOSM categories affect trend order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Research and outlook provide context</a:t>
            </a:r>
          </a:p>
        </p:txBody>
      </p:sp>
      <p:sp>
        <p:nvSpPr>
          <p:cNvPr id="21" name="Uncertainty: missing data stays visible. Scenario sensitivit">
            <a:extLst xmlns:a="http://schemas.openxmlformats.org/drawingml/2006/main">
              <a:ext uri="{FF2B5EF4-FFF2-40B4-BE49-F238E27FC236}">
                <a16:creationId xmlns:a16="http://schemas.microsoft.com/office/drawing/2014/main" id="{CED69709-9C0F-4EA9-A6FC-1E6918DE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rPr>
              <a:t>Uncertainty: missing data stays visible. Scenario sensitivity is a stated assumption.</a:t>
            </a:r>
          </a:p>
        </p:txBody>
      </p:sp>
    </p:spTree>
    <p:extLst>
      <p:ext uri="{BB962C8B-B14F-4D97-AF65-F5344CB8AC3E}">
        <p14:creationId xmlns:p14="http://schemas.microsoft.com/office/powerpoint/2010/main" val="14169563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rototype Demonstration">
            <a:extLst xmlns:a="http://schemas.openxmlformats.org/drawingml/2006/main">
              <a:ext uri="{FF2B5EF4-FFF2-40B4-BE49-F238E27FC236}">
                <a16:creationId xmlns:a16="http://schemas.microsoft.com/office/drawing/2014/main" id="{428D928A-C6F3-449C-91D3-AC9C6DCE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Prototype Demonstration</a:t>
            </a:r>
          </a:p>
        </p:txBody>
      </p:sp>
      <p:sp>
        <p:nvSpPr>
          <p:cNvPr id="2" name="RePath AI">
            <a:extLst xmlns:a="http://schemas.openxmlformats.org/drawingml/2006/main">
              <a:ext uri="{FF2B5EF4-FFF2-40B4-BE49-F238E27FC236}">
                <a16:creationId xmlns:a16="http://schemas.microsoft.com/office/drawing/2014/main" id="{CD5E26FD-3B84-48C6-AFAA-C9A70748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RePath AI</a:t>
            </a:r>
          </a:p>
        </p:txBody>
      </p:sp>
      <p:sp>
        <p:nvSpPr>
          <p:cNvPr id="3" name="06 / 08">
            <a:extLst xmlns:a="http://schemas.openxmlformats.org/drawingml/2006/main">
              <a:ext uri="{FF2B5EF4-FFF2-40B4-BE49-F238E27FC236}">
                <a16:creationId xmlns:a16="http://schemas.microsoft.com/office/drawing/2014/main" id="{74FB929A-B4B6-4560-AE73-1C7BDD20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4" name="Alex’s next step: Management Analyst">
            <a:extLst xmlns:a="http://schemas.openxmlformats.org/drawingml/2006/main">
              <a:ext uri="{FF2B5EF4-FFF2-40B4-BE49-F238E27FC236}">
                <a16:creationId xmlns:a16="http://schemas.microsoft.com/office/drawing/2014/main" id="{F8610EC6-0C05-44C7-861C-5CEC76AD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rPr>
              <a:t>Alex’s next step: Management Analyst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0EE0C-0A46-4E41-AC83-E73B55BA59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56a848accb4c8a"/>
          <a:stretch xmlns:a="http://schemas.openxmlformats.org/drawingml/2006/main"/>
        </p:blipFill>
        <p:spPr>
          <a:xfrm xmlns:a="http://schemas.openxmlformats.org/drawingml/2006/main">
            <a:off x="3819525" y="2134201"/>
            <a:ext cx="7762875" cy="3332547"/>
          </a:xfrm>
          <a:prstGeom xmlns:a="http://schemas.openxmlformats.org/drawingml/2006/main" prst="rect">
            <a:avLst/>
          </a:prstGeom>
        </p:spPr>
      </p:pic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9A49AC4F-4151-4FB1-AA2F-6EF23905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Enter project evidence">
            <a:extLst xmlns:a="http://schemas.openxmlformats.org/drawingml/2006/main">
              <a:ext uri="{FF2B5EF4-FFF2-40B4-BE49-F238E27FC236}">
                <a16:creationId xmlns:a16="http://schemas.microsoft.com/office/drawing/2014/main" id="{03C495DE-D1B0-47A6-9CE0-49AEAFBF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81225"/>
            <a:ext cx="2495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Enter project evidence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04A4558F-533D-4E1D-84FE-49C040BE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Compare fit and gaps">
            <a:extLst xmlns:a="http://schemas.openxmlformats.org/drawingml/2006/main">
              <a:ext uri="{FF2B5EF4-FFF2-40B4-BE49-F238E27FC236}">
                <a16:creationId xmlns:a16="http://schemas.microsoft.com/office/drawing/2014/main" id="{D5BD79BE-7C2D-4CD4-8428-3B62A74F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05150"/>
            <a:ext cx="2495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Compare fit and gaps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8E429ADB-3190-4774-9BC0-980C4D39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Build a weekly plan">
            <a:extLst xmlns:a="http://schemas.openxmlformats.org/drawingml/2006/main">
              <a:ext uri="{FF2B5EF4-FFF2-40B4-BE49-F238E27FC236}">
                <a16:creationId xmlns:a16="http://schemas.microsoft.com/office/drawing/2014/main" id="{4FADF48C-BC82-4C5B-BAEC-4766F725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29075"/>
            <a:ext cx="2495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Build a weekly plan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0AADA9E7-27A1-449F-B813-40D1F600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Confirm a new skill">
            <a:extLst xmlns:a="http://schemas.openxmlformats.org/drawingml/2006/main">
              <a:ext uri="{FF2B5EF4-FFF2-40B4-BE49-F238E27FC236}">
                <a16:creationId xmlns:a16="http://schemas.microsoft.com/office/drawing/2014/main" id="{218C28CA-13CA-4AE7-9189-08FEB4AC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53000"/>
            <a:ext cx="2495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Confirm a new skill</a:t>
            </a:r>
          </a:p>
        </p:txBody>
      </p:sp>
      <p:sp>
        <p:nvSpPr>
          <p:cNvPr id="14" name="Skill confirmation recalculates fit. Trend sorting uses sepa">
            <a:extLst xmlns:a="http://schemas.openxmlformats.org/drawingml/2006/main">
              <a:ext uri="{FF2B5EF4-FFF2-40B4-BE49-F238E27FC236}">
                <a16:creationId xmlns:a16="http://schemas.microsoft.com/office/drawing/2014/main" id="{67768E0F-DA42-4D51-9632-ADCA9AE8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rPr>
              <a:t>Skill confirmation recalculates fit. Trend sorting uses separate market evidence.</a:t>
            </a:r>
          </a:p>
        </p:txBody>
      </p:sp>
    </p:spTree>
    <p:extLst>
      <p:ext uri="{BB962C8B-B14F-4D97-AF65-F5344CB8AC3E}">
        <p14:creationId xmlns:p14="http://schemas.microsoft.com/office/powerpoint/2010/main" val="6937285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DG Alignment &amp; Social Impact">
            <a:extLst xmlns:a="http://schemas.openxmlformats.org/drawingml/2006/main">
              <a:ext uri="{FF2B5EF4-FFF2-40B4-BE49-F238E27FC236}">
                <a16:creationId xmlns:a16="http://schemas.microsoft.com/office/drawing/2014/main" id="{169996AE-9853-4DAD-BFA6-527D9173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SDG Alignment &amp; Social Impact</a:t>
            </a:r>
          </a:p>
        </p:txBody>
      </p:sp>
      <p:sp>
        <p:nvSpPr>
          <p:cNvPr id="2" name="RePath AI">
            <a:extLst xmlns:a="http://schemas.openxmlformats.org/drawingml/2006/main">
              <a:ext uri="{FF2B5EF4-FFF2-40B4-BE49-F238E27FC236}">
                <a16:creationId xmlns:a16="http://schemas.microsoft.com/office/drawing/2014/main" id="{3FBCC4EE-1EAB-429D-8A07-74566EA6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RePath AI</a:t>
            </a:r>
          </a:p>
        </p:txBody>
      </p:sp>
      <p:sp>
        <p:nvSpPr>
          <p:cNvPr id="3" name="07 / 08">
            <a:extLst xmlns:a="http://schemas.openxmlformats.org/drawingml/2006/main">
              <a:ext uri="{FF2B5EF4-FFF2-40B4-BE49-F238E27FC236}">
                <a16:creationId xmlns:a16="http://schemas.microsoft.com/office/drawing/2014/main" id="{4EE914CF-B00F-48ED-987E-956E1DDC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4" name="4.4">
            <a:extLst xmlns:a="http://schemas.openxmlformats.org/drawingml/2006/main">
              <a:ext uri="{FF2B5EF4-FFF2-40B4-BE49-F238E27FC236}">
                <a16:creationId xmlns:a16="http://schemas.microsoft.com/office/drawing/2014/main" id="{7735924A-557D-4D77-BAFF-976BC68E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447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rPr>
              <a:t>4.4</a:t>
            </a:r>
          </a:p>
        </p:txBody>
      </p:sp>
      <p:sp>
        <p:nvSpPr>
          <p:cNvPr id="5" name="Relevant skills">
            <a:extLst xmlns:a="http://schemas.openxmlformats.org/drawingml/2006/main">
              <a:ext uri="{FF2B5EF4-FFF2-40B4-BE49-F238E27FC236}">
                <a16:creationId xmlns:a16="http://schemas.microsoft.com/office/drawing/2014/main" id="{65DF5908-BDB5-4A9A-B8E2-C39F211A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800225"/>
            <a:ext cx="8953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Relevant skills</a:t>
            </a:r>
          </a:p>
        </p:txBody>
      </p:sp>
      <p:sp>
        <p:nvSpPr>
          <p:cNvPr id="6" name="Focused practice and a role-relevant work sample">
            <a:extLst xmlns:a="http://schemas.openxmlformats.org/drawingml/2006/main">
              <a:ext uri="{FF2B5EF4-FFF2-40B4-BE49-F238E27FC236}">
                <a16:creationId xmlns:a16="http://schemas.microsoft.com/office/drawing/2014/main" id="{78DBBCAB-BFFA-42D2-98CB-4F1DD8B2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34315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Focused practice and a role-relevant work sample</a:t>
            </a:r>
          </a:p>
        </p:txBody>
      </p:sp>
      <p:sp>
        <p:nvSpPr>
          <p:cNvPr id="7" name="8.5">
            <a:extLst xmlns:a="http://schemas.openxmlformats.org/drawingml/2006/main">
              <a:ext uri="{FF2B5EF4-FFF2-40B4-BE49-F238E27FC236}">
                <a16:creationId xmlns:a16="http://schemas.microsoft.com/office/drawing/2014/main" id="{9A580A64-4252-4584-A5FF-3D449EF5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447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rPr>
              <a:t>8.5</a:t>
            </a:r>
          </a:p>
        </p:txBody>
      </p:sp>
      <p:sp>
        <p:nvSpPr>
          <p:cNvPr id="8" name="Decent work">
            <a:extLst xmlns:a="http://schemas.openxmlformats.org/drawingml/2006/main">
              <a:ext uri="{FF2B5EF4-FFF2-40B4-BE49-F238E27FC236}">
                <a16:creationId xmlns:a16="http://schemas.microsoft.com/office/drawing/2014/main" id="{49845043-2A73-4EBE-9F1D-C9A1F094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067050"/>
            <a:ext cx="8953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Decent work</a:t>
            </a:r>
          </a:p>
        </p:txBody>
      </p:sp>
      <p:sp>
        <p:nvSpPr>
          <p:cNvPr id="9" name="Adjacent career options built on existing experience">
            <a:extLst xmlns:a="http://schemas.openxmlformats.org/drawingml/2006/main">
              <a:ext uri="{FF2B5EF4-FFF2-40B4-BE49-F238E27FC236}">
                <a16:creationId xmlns:a16="http://schemas.microsoft.com/office/drawing/2014/main" id="{72CB92EB-CC4D-4691-9BAE-DFE3A996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60997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Adjacent career options built on existing experience</a:t>
            </a:r>
          </a:p>
        </p:txBody>
      </p:sp>
      <p:sp>
        <p:nvSpPr>
          <p:cNvPr id="10" name="10.2">
            <a:extLst xmlns:a="http://schemas.openxmlformats.org/drawingml/2006/main">
              <a:ext uri="{FF2B5EF4-FFF2-40B4-BE49-F238E27FC236}">
                <a16:creationId xmlns:a16="http://schemas.microsoft.com/office/drawing/2014/main" id="{CC68F53B-2FEE-4863-A9B2-76DE6D80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447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75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rPr>
              <a:t>10.2</a:t>
            </a:r>
          </a:p>
        </p:txBody>
      </p:sp>
      <p:sp>
        <p:nvSpPr>
          <p:cNvPr id="11" name="Inclusion">
            <a:extLst xmlns:a="http://schemas.openxmlformats.org/drawingml/2006/main">
              <a:ext uri="{FF2B5EF4-FFF2-40B4-BE49-F238E27FC236}">
                <a16:creationId xmlns:a16="http://schemas.microsoft.com/office/drawing/2014/main" id="{042F709B-C8FC-4FBC-8718-019F634C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333875"/>
            <a:ext cx="8953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Inclusion</a:t>
            </a:r>
          </a:p>
        </p:txBody>
      </p:sp>
      <p:sp>
        <p:nvSpPr>
          <p:cNvPr id="12" name="Free exploration, three languages and flexible pacing">
            <a:extLst xmlns:a="http://schemas.openxmlformats.org/drawingml/2006/main">
              <a:ext uri="{FF2B5EF4-FFF2-40B4-BE49-F238E27FC236}">
                <a16:creationId xmlns:a16="http://schemas.microsoft.com/office/drawing/2014/main" id="{2C3B9C6E-9332-446A-9A1F-85D75F06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87680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Free exploration, three languages and flexible pacing</a:t>
            </a:r>
          </a:p>
        </p:txBody>
      </p:sp>
      <p:sp>
        <p:nvSpPr>
          <p:cNvPr id="13" name="Role-level SDG 8 and 9 links are prototype interpretations.">
            <a:extLst xmlns:a="http://schemas.openxmlformats.org/drawingml/2006/main">
              <a:ext uri="{FF2B5EF4-FFF2-40B4-BE49-F238E27FC236}">
                <a16:creationId xmlns:a16="http://schemas.microsoft.com/office/drawing/2014/main" id="{4C0EBC34-98D0-4D68-9CE9-29F7BD97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Role-level SDG 8 and 9 links are prototype interpretations.</a:t>
            </a:r>
          </a:p>
        </p:txBody>
      </p:sp>
      <p:sp>
        <p:nvSpPr>
          <p:cNvPr id="14" name="Pilot measures: pathway completion, work-sample quality and ">
            <a:extLst xmlns:a="http://schemas.openxmlformats.org/drawingml/2006/main">
              <a:ext uri="{FF2B5EF4-FFF2-40B4-BE49-F238E27FC236}">
                <a16:creationId xmlns:a16="http://schemas.microsoft.com/office/drawing/2014/main" id="{D3892010-4E6D-47E9-998F-6734FD78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rPr>
              <a:t>Pilot measures: pathway completion, work-sample quality and user-reported clarity</a:t>
            </a:r>
          </a:p>
        </p:txBody>
      </p:sp>
      <p:sp>
        <p:nvSpPr>
          <p:cNvPr id="15" name="Expected benefits. Employment and equity outcomes still requ">
            <a:extLst xmlns:a="http://schemas.openxmlformats.org/drawingml/2006/main">
              <a:ext uri="{FF2B5EF4-FFF2-40B4-BE49-F238E27FC236}">
                <a16:creationId xmlns:a16="http://schemas.microsoft.com/office/drawing/2014/main" id="{2000CF88-9F12-461E-8E91-B6F08F68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Expected benefits. Employment and equity outcomes still require validation.</a:t>
            </a:r>
          </a:p>
        </p:txBody>
      </p:sp>
    </p:spTree>
    <p:extLst>
      <p:ext uri="{BB962C8B-B14F-4D97-AF65-F5344CB8AC3E}">
        <p14:creationId xmlns:p14="http://schemas.microsoft.com/office/powerpoint/2010/main" val="9726803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easibility &amp; Future Roadmap">
            <a:extLst xmlns:a="http://schemas.openxmlformats.org/drawingml/2006/main">
              <a:ext uri="{FF2B5EF4-FFF2-40B4-BE49-F238E27FC236}">
                <a16:creationId xmlns:a16="http://schemas.microsoft.com/office/drawing/2014/main" id="{A4BCCCB0-A5CD-4CB3-B71E-B26FE5FA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Feasibility &amp; Future Roadmap</a:t>
            </a:r>
          </a:p>
        </p:txBody>
      </p:sp>
      <p:sp>
        <p:nvSpPr>
          <p:cNvPr id="2" name="RePath AI">
            <a:extLst xmlns:a="http://schemas.openxmlformats.org/drawingml/2006/main">
              <a:ext uri="{FF2B5EF4-FFF2-40B4-BE49-F238E27FC236}">
                <a16:creationId xmlns:a16="http://schemas.microsoft.com/office/drawing/2014/main" id="{F17A73ED-8E2A-46EE-AA45-8574377D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RePath AI</a:t>
            </a:r>
          </a:p>
        </p:txBody>
      </p:sp>
      <p:sp>
        <p:nvSpPr>
          <p:cNvPr id="3" name="08 / 08">
            <a:extLst xmlns:a="http://schemas.openxmlformats.org/drawingml/2006/main">
              <a:ext uri="{FF2B5EF4-FFF2-40B4-BE49-F238E27FC236}">
                <a16:creationId xmlns:a16="http://schemas.microsoft.com/office/drawing/2014/main" id="{4321C676-CD77-45F0-A9D1-68F57A2F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08 / 08</a:t>
            </a:r>
          </a:p>
        </p:txBody>
      </p:sp>
      <p:sp>
        <p:nvSpPr>
          <p:cNvPr id="4" name="Working now">
            <a:extLst xmlns:a="http://schemas.openxmlformats.org/drawingml/2006/main">
              <a:ext uri="{FF2B5EF4-FFF2-40B4-BE49-F238E27FC236}">
                <a16:creationId xmlns:a16="http://schemas.microsoft.com/office/drawing/2014/main" id="{DA70BB86-98C7-4F33-8036-9AEDF749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521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00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00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00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00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00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00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00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00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00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rPr>
              <a:t>Working now</a:t>
            </a:r>
          </a:p>
        </p:txBody>
      </p:sp>
      <p:sp>
        <p:nvSpPr>
          <p:cNvPr id="5" name="Project intake and confirmed skill profiles 8 role compariso">
            <a:extLst xmlns:a="http://schemas.openxmlformats.org/drawingml/2006/main">
              <a:ext uri="{FF2B5EF4-FFF2-40B4-BE49-F238E27FC236}">
                <a16:creationId xmlns:a16="http://schemas.microsoft.com/office/drawing/2014/main" id="{4CFA8EF8-3DA9-4325-9F13-5E6BA272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2768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Project intake and confirmed skill profiles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8 role comparisons and practical plans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Separate market views and source evidence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Local progress, export and 3 languages</a:t>
            </a:r>
          </a:p>
        </p:txBody>
      </p:sp>
      <p:sp>
        <p:nvSpPr>
          <p:cNvPr id="6" name="JavaScript modules + static frontend Node.js local server + ">
            <a:extLst xmlns:a="http://schemas.openxmlformats.org/drawingml/2006/main">
              <a:ext uri="{FF2B5EF4-FFF2-40B4-BE49-F238E27FC236}">
                <a16:creationId xmlns:a16="http://schemas.microsoft.com/office/drawing/2014/main" id="{D3010196-7E8E-4B76-95EB-550AE98A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5276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JavaScript modules + static frontend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Node.js local server + browser storage</a:t>
            </a:r>
          </a:p>
        </p:txBody>
      </p:sp>
      <p:sp>
        <p:nvSpPr>
          <p:cNvPr id="7" name="Next development">
            <a:extLst xmlns:a="http://schemas.openxmlformats.org/drawingml/2006/main">
              <a:ext uri="{FF2B5EF4-FFF2-40B4-BE49-F238E27FC236}">
                <a16:creationId xmlns:a16="http://schemas.microsoft.com/office/drawing/2014/main" id="{6EFE78CE-D78B-4048-BD82-B67D8B0A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14475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0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0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0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0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0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0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0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0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0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8DA7EA"/>
                </a:solidFill>
                <a:latin typeface="Microsoft YaHei"/>
                <a:ea typeface="Microsoft YaHei"/>
                <a:cs typeface="Microsoft YaHei"/>
              </a:rPr>
              <a:t>Next development</a:t>
            </a:r>
          </a:p>
        </p:txBody>
      </p:sp>
      <p:sp>
        <p:nvSpPr>
          <p:cNvPr id="8" name="Pilot interviews and work-sample review Model-assisted intak">
            <a:extLst xmlns:a="http://schemas.openxmlformats.org/drawingml/2006/main">
              <a:ext uri="{FF2B5EF4-FFF2-40B4-BE49-F238E27FC236}">
                <a16:creationId xmlns:a16="http://schemas.microsoft.com/office/drawing/2014/main" id="{7ECF58D7-F39F-4DDF-992B-B494D059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71700"/>
            <a:ext cx="51054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Pilot interviews and work-sample review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Model-assisted intake with human confirmation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Reviewed market-update pipeline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2F7FC"/>
                </a:solidFill>
                <a:latin typeface="Microsoft YaHei"/>
                <a:ea typeface="Microsoft YaHei"/>
                <a:cs typeface="Microsoft YaHei"/>
              </a:rPr>
              <a:t>Clearer scenario and SDG explanations</a:t>
            </a:r>
          </a:p>
        </p:txBody>
      </p:sp>
      <p:sp>
        <p:nvSpPr>
          <p:cNvPr id="9" name="Cross-market mapping needs local review. Accounts, payments ">
            <a:extLst xmlns:a="http://schemas.openxmlformats.org/drawingml/2006/main">
              <a:ext uri="{FF2B5EF4-FFF2-40B4-BE49-F238E27FC236}">
                <a16:creationId xmlns:a16="http://schemas.microsoft.com/office/drawing/2014/main" id="{F6236818-F7CB-4B79-B601-48B6732F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76750"/>
            <a:ext cx="5105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Cross-market mapping needs local review.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rPr>
              <a:t>Accounts, payments and outcomes need validation.</a:t>
            </a:r>
          </a:p>
        </p:txBody>
      </p:sp>
      <p:sp>
        <p:nvSpPr>
          <p:cNvPr id="10" name="Your experience is the starting point.">
            <a:extLst xmlns:a="http://schemas.openxmlformats.org/drawingml/2006/main">
              <a:ext uri="{FF2B5EF4-FFF2-40B4-BE49-F238E27FC236}">
                <a16:creationId xmlns:a16="http://schemas.microsoft.com/office/drawing/2014/main" id="{98A640BE-C619-4AFC-A5A6-C1B213FD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700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99DFF5"/>
                </a:solidFill>
                <a:latin typeface="Microsoft YaHei"/>
                <a:ea typeface="Microsoft YaHei"/>
                <a:cs typeface="Microsoft YaHei"/>
              </a:rPr>
              <a:t>Your experience is the starting point.</a:t>
            </a:r>
          </a:p>
        </p:txBody>
      </p:sp>
      <p:sp>
        <p:nvSpPr>
          <p:cNvPr id="11" name="Explore the RePath 0.2 prototype">
            <a:extLst xmlns:a="http://schemas.openxmlformats.org/drawingml/2006/main">
              <a:ext uri="{FF2B5EF4-FFF2-40B4-BE49-F238E27FC236}">
                <a16:creationId xmlns:a16="http://schemas.microsoft.com/office/drawing/2014/main" id="{0ED16989-BFBE-4842-A73D-0E56A75B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FBFC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2bd3a9ab99649f4"/>
              </a:rPr>
              <a:t>Explore the RePath 0.2 prototype</a:t>
            </a:r>
          </a:p>
        </p:txBody>
      </p:sp>
    </p:spTree>
    <p:extLst>
      <p:ext uri="{BB962C8B-B14F-4D97-AF65-F5344CB8AC3E}">
        <p14:creationId xmlns:p14="http://schemas.microsoft.com/office/powerpoint/2010/main" val="5836921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2026-10-24T14:40:35.3310000Z</dcterms:created>
  <dcterms:modified xsi:type="dcterms:W3CDTF">2026-10-24T14:40:35.3310000Z</dcterms:modified>
</coreProperties>
</file>